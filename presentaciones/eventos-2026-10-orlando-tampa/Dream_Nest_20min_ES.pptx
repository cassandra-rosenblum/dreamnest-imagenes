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— 0:30] Primera frase, para que quede claro quién habla y desde dónde: «Soy Cassandra, de Dream Nest. Somos estrategas financieros e hipotecarios en España, regulados por el Banco de España.» Y después: «En 20 minutos quiero que se lleven una idea: cuando un cliente les diga España, ya saben a quién llamar.»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— 1:30] Manos arriba: «¿A cuántos les ha dicho un cliente "estamos pensando en España"?» Y luego: «¿Quién supo exactamente qué contestar?» Ríete con la sala. Ese hueco es la oportunidad: ahí entro yo.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 — 3:00] «Why Spain?» Pregúntalo a la sala primero y deja que contesten. Luego las seis razones, una frase cada una, con tu experiencia: luz y vida en la calle; sanidad y colegios internacionales; cultura y el español; Europa a la puerta con el euro y Schengen; un marco seguro y regulado; un país que mira al futuro. Cierra con la línea amarilla: «La respuesta de su cliente, vivir o tener, cambia toda la estrategia. Y ahí entro yo.» Sin cifras.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[3:00 — 4:15] «Esto lo tienen que ver en su móvil, ahora.» Pide que escaneen el QR: es el mapa interactivo de la web, con una foto real en cada provincia. Cuenta una o dos zonas que te encanten, en una frase cada una. «Cuando su cliente no sabe dónde, empezamos por aquí.» Sin precios.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[4:15 — 5:30] Tu historia en 60 segundos, no más: americana de San Francisco, en España desde adolescente, veinte años en banca hipotecaria. «Conozco las dos orillas de la mesa.» Y el equipo detrás: regulado por el Banco de España, E156. Puente al bloque 3: «Y aquí es donde entra la estrategia financiera.»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[5:30 — 6:00] La frase que se llevan: «España no es difícil. Es diferente.» Las sorpresas vienen de suponer que España sigue el guion americano. Puente: «Les enseño solo tres diferencias que pueden costarle a su cliente la casa.»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[6:00 — 7:30] Diferencia 1, el orden. Seis pasos que se saben de memoria frente a once palabras nuevas. Explica SOLO dos: las arras (comprometen dinero, a veces antes de que el banco diga nada) y la FEIN (la oferta vinculante). «Aquí es donde un cliente pierde dinero si nadie le avisa. Llámenme ANTES de firmar arras.»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[7:30 — 9:15] Diferencia 2, el mito: «Con pasaporte o visado la hipoteca es más fácil.» No. El banco mira estabilidad y el uso de la vivienda. Para el banco, residente es quien ya vive aquí, y si cambia de trabajo vuelve a necesitar 2-3 años fiscales. Muchas veces lo inteligente es comprar e hipotecar ANTES de mudarse. «Esto es estrategia, y es lo que hago.» ⚠️ LCCI/Orden EHA/2899/2011 — se menciona financiación.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[9:15 — 10:15] «Si hoy hacen foto a una diapositiva, que sea esta.» Cinco cifras que mira un banco: hasta ~80% vivienda habitual en muchos casos, ~70% segunda residencia e inversión, endeudamiento 30–35%, plazo 20–25 años, edad máxima 75–80 al terminar. Referencias generales; cada banco decide. Puente: «Ahora vamos a ver cuánto dinero hace falta de verdad.» ⚠️ LCCI/Orden EHA/2899/2011 — verificar antes de publicar.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[10:15 — 12:00] Diferencia 3, el dinero. Pregunta antes de enseñar: «¿Cuánto dinero tiene que tener listo su cliente para una casa de 500.000 €?» Luego el desglose: unos 223.400 € con el colchón del 5%. «Esta cuenta la hago con cada cliente antes de que se enamore de una casa.» Di que es un ejemplo ilustrativo, no una oferta. ⚠️ LCCI/Orden EHA/2899/2011 — tipo y cuota ilustrativos, sin TAE.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[12:00 — 13:30] Juego rápido: lee dos o tres frases con la voz del cliente y que la sala grite «¡NO!». La buena noticia: todo tiene arreglo si alguien lo detecta antes de firmar. «Ese alguien soy yo.»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[13:30 — 15:00] Céntrate en el negocio principal. Para ustedes: aterrizamos el proyecto de su cliente y le decimos qué es realista antes de comprometerse; definimos su estrategia financiera e hipotecaria; coordinamos a todas las partes hasta la firma; y les mantenemos informados sin compartir sus finanzas. Los profesionales de confianza, solo de pasada: «y si los necesitan, se los presentamos». Para su cliente: estudio preliminar, estrategia y negociación con los bancos, coordinación hasta las llaves y acompañamiento después. Cierra con la línea amarilla: «Nuestro centro es la estrategia financiera de su cliente. Todo lo demás, coordinado.» ⚠️ LCCI/Orden EHA/2899/2011 — no mencionar tipos ni cuotas aquí.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[15:00 — 15:45] El corazón para este público: «Su cliente sigue siendo su cliente aunque cruce el Atlántico. Ustedes siguen siendo su persona de confianza; yo soy su equipo en España.» Mira a la sala.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[15:45 — 17:00] Cómo trabajamos juntos: presentan un cliente en segundos desde la app, ven cómo avanza y nosotros nos ocupamos de España. Línea roja: nunca compartimos las finanzas de su cliente. Pantallas reales, datos de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[17:00 — 17:45] Resumen del bloque 3, justo antes de la llamada a la acción. «La transacción inmobiliaria es suya.» Ustedes llevan la relación con el cliente y la operación inmobiliaria, con su inmobiliaria en España; si no la tienen, se la presentamos. Nosotros llevamos la estrategia financiera y coordinamos a todas las partes: bancos, tasación, abogado, fiscalista, divisas, seguros, la inmobiliaria y el vendedor, hasta la firma ante notario. Frase final: «No intervenimos en la venta: la hacemos posible.»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[17:45 — 19:00] La llamada a la acción, con calma y sin arrogancia: «Me sabe mal tener tan poco tiempo; sé que estos días tienen muchísimas cosas. Pero hay mucho más que contarles, y puede ser muy importante para su negocio global y para su puerta de entrada a España. Organicemos una videollamada: les enseño las herramientas, hablamos con su equipo.» Frase clave: «Su primera gestión con España: conectar con nosotros.» Pide que escaneen el QR ahora, el mismo del roll-up: «Déjennos su nombre y su email y les mandamos un regalo: un viaje por España, con nuestro mapa interactivo, el vídeo de esta presentación y nuestro folleto.» Después, por email, les llegan las redes, el informe gratuito y la invitación a la videollamada. Calla unos segundos mientras escanean.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[19:00 — 19:30] Despacio: «Su cliente está pensando en España. Ahora ya saben a quién llamar.» Gracias. Deja el QR (el del roll-up) durante las preguntas (te quedan unos 2 minutos de margen para enrollarte).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[19:30 — final] El vídeo de España arranca solo, a pantalla completa, con la música de Dream Nest. Deja que suene: es el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form.dreamnestspain.com/contacto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4.png"/><Relationship Id="rId4" Type="http://schemas.openxmlformats.org/officeDocument/2006/relationships/hyperlink" Target="https://form.dreamnestspain.com/contacto" TargetMode="Externa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4.png"/><Relationship Id="rId4" Type="http://schemas.openxmlformats.org/officeDocument/2006/relationships/hyperlink" Target="https://form.dreamnestspain.com/contacto" TargetMode="Externa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4.png"/><Relationship Id="rId4" Type="http://schemas.openxmlformats.org/officeDocument/2006/relationships/hyperlink" Target="https://form.dreamnestspain.com/contacto" TargetMode="Externa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4.png"/><Relationship Id="rId4" Type="http://schemas.openxmlformats.org/officeDocument/2006/relationships/hyperlink" Target="https://form.dreamnestspain.com/contacto" TargetMode="Externa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4.png"/><Relationship Id="rId4" Type="http://schemas.openxmlformats.org/officeDocument/2006/relationships/hyperlink" Target="https://form.dreamnestspain.com/contacto" TargetMode="Externa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4.png"/><Relationship Id="rId4" Type="http://schemas.openxmlformats.org/officeDocument/2006/relationships/hyperlink" Target="https://form.dreamnestspain.com/contacto" TargetMode="Externa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4.png"/><Relationship Id="rId4" Type="http://schemas.openxmlformats.org/officeDocument/2006/relationships/hyperlink" Target="https://form.dreamnestspain.com/contacto" TargetMode="Externa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4.png"/><Relationship Id="rId4" Type="http://schemas.openxmlformats.org/officeDocument/2006/relationships/hyperlink" Target="https://form.dreamnestspain.com/contacto" TargetMode="Externa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cover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hook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why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R card"/>
          <p:cNvSpPr/>
          <p:nvPr/>
        </p:nvSpPr>
        <p:spPr>
          <a:xfrm>
            <a:off x="10985500" y="63500"/>
            <a:ext cx="111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D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R" descr="qr-contacto-rollup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500" y="152400"/>
            <a:ext cx="863600" cy="863600"/>
          </a:xfrm>
          <a:prstGeom prst="rect">
            <a:avLst/>
          </a:prstGeom>
        </p:spPr>
      </p:pic>
      <p:sp>
        <p:nvSpPr>
          <p:cNvPr id="5" name="QR label"/>
          <p:cNvSpPr txBox="1"/>
          <p:nvPr/>
        </p:nvSpPr>
        <p:spPr>
          <a:xfrm>
            <a:off x="11023600" y="1028700"/>
            <a:ext cx="1041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3B34"/>
                </a:solidFill>
                <a:latin typeface="Arial"/>
              </a:rPr>
              <a:t>Su regalo</a:t>
            </a:r>
          </a:p>
          <a:p>
            <a:pPr algn="ctr"/>
            <a:r>
              <a:rPr sz="900" b="0">
                <a:solidFill>
                  <a:srgbClr val="1C3B34"/>
                </a:solidFill>
                <a:latin typeface="Arial"/>
              </a:rPr>
              <a:t>Escanee aquí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explorer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cassandra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different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R card"/>
          <p:cNvSpPr/>
          <p:nvPr/>
        </p:nvSpPr>
        <p:spPr>
          <a:xfrm>
            <a:off x="10795000" y="952500"/>
            <a:ext cx="111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D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R" descr="qr-contacto-rollup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1041400"/>
            <a:ext cx="863600" cy="863600"/>
          </a:xfrm>
          <a:prstGeom prst="rect">
            <a:avLst/>
          </a:prstGeom>
        </p:spPr>
      </p:pic>
      <p:sp>
        <p:nvSpPr>
          <p:cNvPr id="5" name="QR label"/>
          <p:cNvSpPr txBox="1"/>
          <p:nvPr/>
        </p:nvSpPr>
        <p:spPr>
          <a:xfrm>
            <a:off x="10833100" y="1917700"/>
            <a:ext cx="1041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3B34"/>
                </a:solidFill>
                <a:latin typeface="Arial"/>
              </a:rPr>
              <a:t>Su regalo</a:t>
            </a:r>
          </a:p>
          <a:p>
            <a:pPr algn="ctr"/>
            <a:r>
              <a:rPr sz="900" b="0">
                <a:solidFill>
                  <a:srgbClr val="1C3B34"/>
                </a:solidFill>
                <a:latin typeface="Arial"/>
              </a:rPr>
              <a:t>Escanee aquí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sequence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R card"/>
          <p:cNvSpPr/>
          <p:nvPr/>
        </p:nvSpPr>
        <p:spPr>
          <a:xfrm>
            <a:off x="10795000" y="254000"/>
            <a:ext cx="111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D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R" descr="qr-contacto-rollup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342900"/>
            <a:ext cx="863600" cy="863600"/>
          </a:xfrm>
          <a:prstGeom prst="rect">
            <a:avLst/>
          </a:prstGeom>
        </p:spPr>
      </p:pic>
      <p:sp>
        <p:nvSpPr>
          <p:cNvPr id="5" name="QR label"/>
          <p:cNvSpPr txBox="1"/>
          <p:nvPr/>
        </p:nvSpPr>
        <p:spPr>
          <a:xfrm>
            <a:off x="10833100" y="1219200"/>
            <a:ext cx="1041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3B34"/>
                </a:solidFill>
                <a:latin typeface="Arial"/>
              </a:rPr>
              <a:t>Su regalo</a:t>
            </a:r>
          </a:p>
          <a:p>
            <a:pPr algn="ctr"/>
            <a:r>
              <a:rPr sz="900" b="0">
                <a:solidFill>
                  <a:srgbClr val="1C3B34"/>
                </a:solidFill>
                <a:latin typeface="Arial"/>
              </a:rPr>
              <a:t>Escanee aquí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residency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R card"/>
          <p:cNvSpPr/>
          <p:nvPr/>
        </p:nvSpPr>
        <p:spPr>
          <a:xfrm>
            <a:off x="10960100" y="127000"/>
            <a:ext cx="111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D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R" descr="qr-contacto-rollup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0" y="215900"/>
            <a:ext cx="863600" cy="863600"/>
          </a:xfrm>
          <a:prstGeom prst="rect">
            <a:avLst/>
          </a:prstGeom>
        </p:spPr>
      </p:pic>
      <p:sp>
        <p:nvSpPr>
          <p:cNvPr id="5" name="QR label"/>
          <p:cNvSpPr txBox="1"/>
          <p:nvPr/>
        </p:nvSpPr>
        <p:spPr>
          <a:xfrm>
            <a:off x="10998200" y="1092200"/>
            <a:ext cx="1041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3B34"/>
                </a:solidFill>
                <a:latin typeface="Arial"/>
              </a:rPr>
              <a:t>Su regalo</a:t>
            </a:r>
          </a:p>
          <a:p>
            <a:pPr algn="ctr"/>
            <a:r>
              <a:rPr sz="900" b="0">
                <a:solidFill>
                  <a:srgbClr val="1C3B34"/>
                </a:solidFill>
                <a:latin typeface="Arial"/>
              </a:rPr>
              <a:t>Escanee aquí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numbers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R card"/>
          <p:cNvSpPr/>
          <p:nvPr/>
        </p:nvSpPr>
        <p:spPr>
          <a:xfrm>
            <a:off x="10858500" y="215900"/>
            <a:ext cx="111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D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R" descr="qr-contacto-rollup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500" y="304800"/>
            <a:ext cx="863600" cy="863600"/>
          </a:xfrm>
          <a:prstGeom prst="rect">
            <a:avLst/>
          </a:prstGeom>
        </p:spPr>
      </p:pic>
      <p:sp>
        <p:nvSpPr>
          <p:cNvPr id="5" name="QR label"/>
          <p:cNvSpPr txBox="1"/>
          <p:nvPr/>
        </p:nvSpPr>
        <p:spPr>
          <a:xfrm>
            <a:off x="10896600" y="1181100"/>
            <a:ext cx="1041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3B34"/>
                </a:solidFill>
                <a:latin typeface="Arial"/>
              </a:rPr>
              <a:t>Su regalo</a:t>
            </a:r>
          </a:p>
          <a:p>
            <a:pPr algn="ctr"/>
            <a:r>
              <a:rPr sz="900" b="0">
                <a:solidFill>
                  <a:srgbClr val="1C3B34"/>
                </a:solidFill>
                <a:latin typeface="Arial"/>
              </a:rPr>
              <a:t>Escanee aquí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example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R card"/>
          <p:cNvSpPr/>
          <p:nvPr/>
        </p:nvSpPr>
        <p:spPr>
          <a:xfrm>
            <a:off x="762000" y="4826000"/>
            <a:ext cx="111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D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R" descr="qr-contacto-rollup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4914900"/>
            <a:ext cx="863600" cy="863600"/>
          </a:xfrm>
          <a:prstGeom prst="rect">
            <a:avLst/>
          </a:prstGeom>
        </p:spPr>
      </p:pic>
      <p:sp>
        <p:nvSpPr>
          <p:cNvPr id="5" name="QR label"/>
          <p:cNvSpPr txBox="1"/>
          <p:nvPr/>
        </p:nvSpPr>
        <p:spPr>
          <a:xfrm>
            <a:off x="800100" y="5791200"/>
            <a:ext cx="1041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3B34"/>
                </a:solidFill>
                <a:latin typeface="Arial"/>
              </a:rPr>
              <a:t>Su regalo</a:t>
            </a:r>
          </a:p>
          <a:p>
            <a:pPr algn="ctr"/>
            <a:r>
              <a:rPr sz="900" b="0">
                <a:solidFill>
                  <a:srgbClr val="1C3B34"/>
                </a:solidFill>
                <a:latin typeface="Arial"/>
              </a:rPr>
              <a:t>Escanee aquí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mistakes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R card"/>
          <p:cNvSpPr/>
          <p:nvPr/>
        </p:nvSpPr>
        <p:spPr>
          <a:xfrm>
            <a:off x="10541000" y="4838700"/>
            <a:ext cx="111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D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R" descr="qr-contacto-rollup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4927600"/>
            <a:ext cx="863600" cy="863600"/>
          </a:xfrm>
          <a:prstGeom prst="rect">
            <a:avLst/>
          </a:prstGeom>
        </p:spPr>
      </p:pic>
      <p:sp>
        <p:nvSpPr>
          <p:cNvPr id="5" name="QR label"/>
          <p:cNvSpPr txBox="1"/>
          <p:nvPr/>
        </p:nvSpPr>
        <p:spPr>
          <a:xfrm>
            <a:off x="10579100" y="5803900"/>
            <a:ext cx="1041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3B34"/>
                </a:solidFill>
                <a:latin typeface="Arial"/>
              </a:rPr>
              <a:t>Su regalo</a:t>
            </a:r>
          </a:p>
          <a:p>
            <a:pPr algn="ctr"/>
            <a:r>
              <a:rPr sz="900" b="0">
                <a:solidFill>
                  <a:srgbClr val="1C3B34"/>
                </a:solidFill>
                <a:latin typeface="Arial"/>
              </a:rPr>
              <a:t>Escanee aquí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services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partners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R card"/>
          <p:cNvSpPr/>
          <p:nvPr/>
        </p:nvSpPr>
        <p:spPr>
          <a:xfrm>
            <a:off x="10795000" y="2032000"/>
            <a:ext cx="111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D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R" descr="qr-contacto-rollup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2120900"/>
            <a:ext cx="863600" cy="863600"/>
          </a:xfrm>
          <a:prstGeom prst="rect">
            <a:avLst/>
          </a:prstGeom>
        </p:spPr>
      </p:pic>
      <p:sp>
        <p:nvSpPr>
          <p:cNvPr id="5" name="QR label"/>
          <p:cNvSpPr txBox="1"/>
          <p:nvPr/>
        </p:nvSpPr>
        <p:spPr>
          <a:xfrm>
            <a:off x="10833100" y="2997200"/>
            <a:ext cx="1041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3B34"/>
                </a:solidFill>
                <a:latin typeface="Arial"/>
              </a:rPr>
              <a:t>Su regalo</a:t>
            </a:r>
          </a:p>
          <a:p>
            <a:pPr algn="ctr"/>
            <a:r>
              <a:rPr sz="900" b="0">
                <a:solidFill>
                  <a:srgbClr val="1C3B34"/>
                </a:solidFill>
                <a:latin typeface="Arial"/>
              </a:rPr>
              <a:t>Escanee aquí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partnerapp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roles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R card"/>
          <p:cNvSpPr/>
          <p:nvPr/>
        </p:nvSpPr>
        <p:spPr>
          <a:xfrm>
            <a:off x="10960100" y="1905000"/>
            <a:ext cx="111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D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R" descr="qr-contacto-rollup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0" y="1993900"/>
            <a:ext cx="863600" cy="863600"/>
          </a:xfrm>
          <a:prstGeom prst="rect">
            <a:avLst/>
          </a:prstGeom>
        </p:spPr>
      </p:pic>
      <p:sp>
        <p:nvSpPr>
          <p:cNvPr id="5" name="QR label"/>
          <p:cNvSpPr txBox="1"/>
          <p:nvPr/>
        </p:nvSpPr>
        <p:spPr>
          <a:xfrm>
            <a:off x="10998200" y="2870200"/>
            <a:ext cx="1041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3B34"/>
                </a:solidFill>
                <a:latin typeface="Arial"/>
              </a:rPr>
              <a:t>Su regalo</a:t>
            </a:r>
          </a:p>
          <a:p>
            <a:pPr algn="ctr"/>
            <a:r>
              <a:rPr sz="900" b="0">
                <a:solidFill>
                  <a:srgbClr val="1C3B34"/>
                </a:solidFill>
                <a:latin typeface="Arial"/>
              </a:rPr>
              <a:t>Escanee aquí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cta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close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B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España · ví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España, sin sorpresas · Tampa 20 minutos</dc:title>
  <dc:subject/>
  <dc:creator>Dream Nest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